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  <p:embeddedFontLst>
    <p:embeddedFont>
      <p:font typeface="JGCEPH+DejaVu Sans Mono Oblique"/>
      <p:regular r:id="rId24"/>
    </p:embeddedFont>
    <p:embeddedFont>
      <p:font typeface="RCIHEE+DejaVu Sans Mono Oblique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font" Target="fonts/font1.fntdata" /><Relationship Id="rId25" Type="http://schemas.openxmlformats.org/officeDocument/2006/relationships/font" Target="fonts/font2.fntdata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43484" y="1388695"/>
            <a:ext cx="7057218" cy="1965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449"/>
              </a:lnSpc>
              <a:spcBef>
                <a:spcPts val="0"/>
              </a:spcBef>
              <a:spcAft>
                <a:spcPts val="0"/>
              </a:spcAft>
            </a:pPr>
            <a:r>
              <a:rPr dirty="0" sz="6400" b="1">
                <a:solidFill>
                  <a:srgbClr val="202124"/>
                </a:solidFill>
                <a:latin typeface="DejaVu Sans"/>
                <a:cs typeface="DejaVu Sans"/>
              </a:rPr>
              <a:t>Introduction</a:t>
            </a:r>
            <a:r>
              <a:rPr dirty="0" sz="64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6400" b="1">
                <a:solidFill>
                  <a:srgbClr val="202124"/>
                </a:solidFill>
                <a:latin typeface="DejaVu Sans"/>
                <a:cs typeface="DejaVu Sans"/>
              </a:rPr>
              <a:t>to</a:t>
            </a:r>
          </a:p>
          <a:p>
            <a:pPr marL="1277540" marR="0">
              <a:lnSpc>
                <a:spcPts val="7449"/>
              </a:lnSpc>
              <a:spcBef>
                <a:spcPts val="325"/>
              </a:spcBef>
              <a:spcAft>
                <a:spcPts val="0"/>
              </a:spcAft>
            </a:pPr>
            <a:r>
              <a:rPr dirty="0" sz="6400" spc="-28" b="1">
                <a:solidFill>
                  <a:srgbClr val="202124"/>
                </a:solidFill>
                <a:latin typeface="DejaVu Sans"/>
                <a:cs typeface="DejaVu Sans"/>
              </a:rPr>
              <a:t>Features: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22983" y="3567593"/>
            <a:ext cx="8898210" cy="688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1a73e8"/>
                </a:solidFill>
                <a:latin typeface="DejaVu Sans"/>
                <a:cs typeface="DejaVu Sans"/>
              </a:rPr>
              <a:t>Computer</a:t>
            </a:r>
            <a:r>
              <a:rPr dirty="0" sz="4400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spc="-20">
                <a:solidFill>
                  <a:srgbClr val="1a73e8"/>
                </a:solidFill>
                <a:latin typeface="DejaVu Sans"/>
                <a:cs typeface="DejaVu Sans"/>
              </a:rPr>
              <a:t>Vision</a:t>
            </a:r>
            <a:r>
              <a:rPr dirty="0" sz="4400" spc="18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spc="-20">
                <a:solidFill>
                  <a:srgbClr val="1a73e8"/>
                </a:solidFill>
                <a:latin typeface="DejaVu Sans"/>
                <a:cs typeface="DejaVu Sans"/>
              </a:rPr>
              <a:t>Fundamentals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13720" y="5004454"/>
            <a:ext cx="4716963" cy="511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5f6368"/>
                </a:solidFill>
                <a:latin typeface="DejaVu Sans"/>
                <a:cs typeface="DejaVu Sans"/>
              </a:rPr>
              <a:t>Computer</a:t>
            </a:r>
            <a:r>
              <a:rPr dirty="0" sz="32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3200" spc="-14">
                <a:solidFill>
                  <a:srgbClr val="5f6368"/>
                </a:solidFill>
                <a:latin typeface="DejaVu Sans"/>
                <a:cs typeface="DejaVu Sans"/>
              </a:rPr>
              <a:t>Vision</a:t>
            </a:r>
            <a:r>
              <a:rPr dirty="0" sz="3200" spc="14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3200" spc="-136">
                <a:solidFill>
                  <a:srgbClr val="5f6368"/>
                </a:solidFill>
                <a:latin typeface="DejaVu Sans"/>
                <a:cs typeface="DejaVu Sans"/>
              </a:rPr>
              <a:t>Team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67630"/>
            <a:ext cx="6944319" cy="7477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7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What</a:t>
            </a: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Are</a:t>
            </a: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800" spc="-21" b="1">
                <a:solidFill>
                  <a:srgbClr val="202124"/>
                </a:solidFill>
                <a:latin typeface="DejaVu Sans"/>
                <a:cs typeface="DejaVu Sans"/>
              </a:rPr>
              <a:t>Features?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499" y="1908829"/>
            <a:ext cx="10539169" cy="511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1a73e8"/>
                </a:solidFill>
                <a:latin typeface="DejaVu Sans"/>
                <a:cs typeface="DejaVu Sans"/>
              </a:rPr>
              <a:t>•</a:t>
            </a:r>
            <a:r>
              <a:rPr dirty="0" sz="3200" spc="-159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3200" spc="-31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  <a:r>
              <a:rPr dirty="0" sz="3200" spc="3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36">
                <a:solidFill>
                  <a:srgbClr val="202124"/>
                </a:solidFill>
                <a:latin typeface="DejaVu Sans"/>
                <a:cs typeface="DejaVu Sans"/>
              </a:rPr>
              <a:t>are</a:t>
            </a:r>
            <a:r>
              <a:rPr dirty="0" sz="3200" spc="34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distinctive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elements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or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structures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2499" y="2480329"/>
            <a:ext cx="1758897" cy="511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images.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1499" y="3270904"/>
            <a:ext cx="11041284" cy="511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1a73e8"/>
                </a:solidFill>
                <a:latin typeface="DejaVu Sans"/>
                <a:cs typeface="DejaVu Sans"/>
              </a:rPr>
              <a:t>•</a:t>
            </a:r>
            <a:r>
              <a:rPr dirty="0" sz="3200" spc="-159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Used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for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matching,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recognition,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and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reconstruction.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1499" y="4651528"/>
            <a:ext cx="3301317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5f6368"/>
                </a:solidFill>
                <a:latin typeface="DejaVu Sans"/>
                <a:cs typeface="DejaVu Sans"/>
              </a:rPr>
              <a:t>Common</a:t>
            </a:r>
            <a:r>
              <a:rPr dirty="0" sz="2800" b="1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 spc="-56" b="1">
                <a:solidFill>
                  <a:srgbClr val="5f6368"/>
                </a:solidFill>
                <a:latin typeface="DejaVu Sans"/>
                <a:cs typeface="DejaVu Sans"/>
              </a:rPr>
              <a:t>Types: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3018" y="5584978"/>
            <a:ext cx="1357130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202124"/>
                </a:solidFill>
                <a:latin typeface="DejaVu Sans"/>
                <a:cs typeface="DejaVu Sans"/>
              </a:rPr>
              <a:t>Edges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33973" y="5584978"/>
            <a:ext cx="1714261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202124"/>
                </a:solidFill>
                <a:latin typeface="DejaVu Sans"/>
                <a:cs typeface="DejaVu Sans"/>
              </a:rPr>
              <a:t>Corners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82568" y="5584978"/>
            <a:ext cx="1255737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202124"/>
                </a:solidFill>
                <a:latin typeface="DejaVu Sans"/>
                <a:cs typeface="DejaVu Sans"/>
              </a:rPr>
              <a:t>Blobs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674869" y="5584978"/>
            <a:ext cx="1509913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202124"/>
                </a:solidFill>
                <a:latin typeface="DejaVu Sans"/>
                <a:cs typeface="DejaVu Sans"/>
              </a:rPr>
              <a:t>Ridges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77155"/>
            <a:ext cx="10297119" cy="7477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7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Why</a:t>
            </a: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Are</a:t>
            </a: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800" spc="-23" b="1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  <a:r>
              <a:rPr dirty="0" sz="4800" spc="23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Important?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099" y="2185466"/>
            <a:ext cx="8952085" cy="11132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9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202124"/>
                </a:solidFill>
                <a:latin typeface="DejaVu Sans"/>
                <a:cs typeface="DejaVu Sans"/>
              </a:rPr>
              <a:t>Enable</a:t>
            </a:r>
            <a:r>
              <a:rPr dirty="0" sz="36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202124"/>
                </a:solidFill>
                <a:latin typeface="DejaVu Sans"/>
                <a:cs typeface="DejaVu Sans"/>
              </a:rPr>
              <a:t>Core</a:t>
            </a:r>
            <a:r>
              <a:rPr dirty="0" sz="36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600" spc="-93" b="1">
                <a:solidFill>
                  <a:srgbClr val="202124"/>
                </a:solidFill>
                <a:latin typeface="DejaVu Sans"/>
                <a:cs typeface="DejaVu Sans"/>
              </a:rPr>
              <a:t>Tasks</a:t>
            </a:r>
            <a:r>
              <a:rPr dirty="0" sz="3600" spc="7945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202124"/>
                </a:solidFill>
                <a:latin typeface="DejaVu Sans"/>
                <a:cs typeface="DejaVu Sans"/>
              </a:rPr>
              <a:t>Provide</a:t>
            </a:r>
          </a:p>
          <a:p>
            <a:pPr marL="5810249" marR="0">
              <a:lnSpc>
                <a:spcPts val="4190"/>
              </a:lnSpc>
              <a:spcBef>
                <a:spcPts val="84"/>
              </a:spcBef>
              <a:spcAft>
                <a:spcPts val="0"/>
              </a:spcAft>
            </a:pPr>
            <a:r>
              <a:rPr dirty="0" sz="3600" b="1">
                <a:solidFill>
                  <a:srgbClr val="202124"/>
                </a:solidFill>
                <a:latin typeface="DejaVu Sans"/>
                <a:cs typeface="DejaVu Sans"/>
              </a:rPr>
              <a:t>Robustness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2499" y="3143389"/>
            <a:ext cx="3833914" cy="5037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666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Object</a:t>
            </a: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recognition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62749" y="3695839"/>
            <a:ext cx="3711438" cy="22373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666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Scale</a:t>
            </a: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variations</a:t>
            </a:r>
          </a:p>
          <a:p>
            <a:pPr marL="0" marR="0">
              <a:lnSpc>
                <a:spcPts val="3666"/>
              </a:lnSpc>
              <a:spcBef>
                <a:spcPts val="3108"/>
              </a:spcBef>
              <a:spcAft>
                <a:spcPts val="0"/>
              </a:spcAft>
            </a:pPr>
            <a:r>
              <a:rPr dirty="0" sz="3150" spc="-20">
                <a:solidFill>
                  <a:srgbClr val="202124"/>
                </a:solidFill>
                <a:latin typeface="DejaVu Sans"/>
                <a:cs typeface="DejaVu Sans"/>
              </a:rPr>
              <a:t>Rotation</a:t>
            </a:r>
            <a:r>
              <a:rPr dirty="0" sz="3150" spc="2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changes</a:t>
            </a:r>
          </a:p>
          <a:p>
            <a:pPr marL="0" marR="0">
              <a:lnSpc>
                <a:spcPts val="3666"/>
              </a:lnSpc>
              <a:spcBef>
                <a:spcPts val="3108"/>
              </a:spcBef>
              <a:spcAft>
                <a:spcPts val="0"/>
              </a:spcAft>
            </a:pP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Illumination</a:t>
            </a: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150" spc="-10">
                <a:solidFill>
                  <a:srgbClr val="202124"/>
                </a:solidFill>
                <a:latin typeface="DejaVu Sans"/>
                <a:cs typeface="DejaVu Sans"/>
              </a:rPr>
              <a:t>shifts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2499" y="4010164"/>
            <a:ext cx="3219189" cy="5037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666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Object</a:t>
            </a: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tracking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52499" y="4876939"/>
            <a:ext cx="4016163" cy="5037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666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spc="-20">
                <a:solidFill>
                  <a:srgbClr val="202124"/>
                </a:solidFill>
                <a:latin typeface="DejaVu Sans"/>
                <a:cs typeface="DejaVu Sans"/>
              </a:rPr>
              <a:t>Panorama</a:t>
            </a:r>
            <a:r>
              <a:rPr dirty="0" sz="3150" spc="2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150">
                <a:solidFill>
                  <a:srgbClr val="202124"/>
                </a:solidFill>
                <a:latin typeface="DejaVu Sans"/>
                <a:cs typeface="DejaVu Sans"/>
              </a:rPr>
              <a:t>stitching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48580"/>
            <a:ext cx="6233218" cy="7477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7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 spc="-113" b="1">
                <a:solidFill>
                  <a:srgbClr val="202124"/>
                </a:solidFill>
                <a:latin typeface="DejaVu Sans"/>
                <a:cs typeface="DejaVu Sans"/>
              </a:rPr>
              <a:t>Types</a:t>
            </a:r>
            <a:r>
              <a:rPr dirty="0" sz="4800" spc="113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of</a:t>
            </a:r>
            <a:r>
              <a:rPr dirty="0" sz="48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800" spc="-23" b="1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6299" y="1794941"/>
            <a:ext cx="3852638" cy="5703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9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DejaVu Sans"/>
                <a:cs typeface="DejaVu Sans"/>
              </a:rPr>
              <a:t>Edge</a:t>
            </a:r>
            <a:r>
              <a:rPr dirty="0" sz="36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3600" spc="-18" b="1">
                <a:solidFill>
                  <a:srgbClr val="1a73e8"/>
                </a:solidFill>
                <a:latin typeface="DejaVu Sans"/>
                <a:cs typeface="DejaVu Sans"/>
              </a:rPr>
              <a:t>Features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91299" y="1794941"/>
            <a:ext cx="4311848" cy="5703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9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DejaVu Sans"/>
                <a:cs typeface="DejaVu Sans"/>
              </a:rPr>
              <a:t>Corner</a:t>
            </a:r>
            <a:r>
              <a:rPr dirty="0" sz="36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3600" spc="-18" b="1">
                <a:solidFill>
                  <a:srgbClr val="1a73e8"/>
                </a:solidFill>
                <a:latin typeface="DejaVu Sans"/>
                <a:cs typeface="DejaVu Sans"/>
              </a:rPr>
              <a:t>Features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299" y="2518429"/>
            <a:ext cx="10705124" cy="1034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Detected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by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gradients,</a:t>
            </a:r>
            <a:r>
              <a:rPr dirty="0" sz="3200" spc="7198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10">
                <a:solidFill>
                  <a:srgbClr val="202124"/>
                </a:solidFill>
                <a:latin typeface="DejaVu Sans"/>
                <a:cs typeface="DejaVu Sans"/>
              </a:rPr>
              <a:t>Harris,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76">
                <a:solidFill>
                  <a:srgbClr val="202124"/>
                </a:solidFill>
                <a:latin typeface="DejaVu Sans"/>
                <a:cs typeface="DejaVu Sans"/>
              </a:rPr>
              <a:t>Shi-Tomasi,</a:t>
            </a:r>
            <a:r>
              <a:rPr dirty="0" sz="3200" spc="75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74">
                <a:solidFill>
                  <a:srgbClr val="202124"/>
                </a:solidFill>
                <a:latin typeface="DejaVu Sans"/>
                <a:cs typeface="DejaVu Sans"/>
              </a:rPr>
              <a:t>FAST</a:t>
            </a:r>
          </a:p>
          <a:p>
            <a:pPr marL="0" marR="0">
              <a:lnSpc>
                <a:spcPts val="3724"/>
              </a:lnSpc>
              <a:spcBef>
                <a:spcPts val="400"/>
              </a:spcBef>
              <a:spcAft>
                <a:spcPts val="0"/>
              </a:spcAft>
            </a:pP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e.g.,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Canny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299" y="4423841"/>
            <a:ext cx="3722265" cy="5703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9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DejaVu Sans"/>
                <a:cs typeface="DejaVu Sans"/>
              </a:rPr>
              <a:t>Blob</a:t>
            </a:r>
            <a:r>
              <a:rPr dirty="0" sz="36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3600" spc="-18" b="1">
                <a:solidFill>
                  <a:srgbClr val="1a73e8"/>
                </a:solidFill>
                <a:latin typeface="DejaVu Sans"/>
                <a:cs typeface="DejaVu Sans"/>
              </a:rPr>
              <a:t>Features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91299" y="4423841"/>
            <a:ext cx="3124869" cy="5703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9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DejaVu Sans"/>
                <a:cs typeface="DejaVu Sans"/>
              </a:rPr>
              <a:t>Descriptors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299" y="5147329"/>
            <a:ext cx="9288638" cy="1034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Diﬀerence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of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Gaussians,</a:t>
            </a:r>
            <a:r>
              <a:rPr dirty="0" sz="3200" spc="501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14">
                <a:solidFill>
                  <a:srgbClr val="202124"/>
                </a:solidFill>
                <a:latin typeface="DejaVu Sans"/>
                <a:cs typeface="DejaVu Sans"/>
              </a:rPr>
              <a:t>SIFT,</a:t>
            </a:r>
            <a:r>
              <a:rPr dirty="0" sz="3200" spc="14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ORB,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BRIEF</a:t>
            </a:r>
          </a:p>
          <a:p>
            <a:pPr marL="0" marR="0">
              <a:lnSpc>
                <a:spcPts val="3724"/>
              </a:lnSpc>
              <a:spcBef>
                <a:spcPts val="400"/>
              </a:spcBef>
              <a:spcAft>
                <a:spcPts val="0"/>
              </a:spcAft>
            </a:pPr>
            <a:r>
              <a:rPr dirty="0" sz="3200" spc="-14">
                <a:solidFill>
                  <a:srgbClr val="202124"/>
                </a:solidFill>
                <a:latin typeface="DejaVu Sans"/>
                <a:cs typeface="DejaVu Sans"/>
              </a:rPr>
              <a:t>SIFT,</a:t>
            </a:r>
            <a:r>
              <a:rPr dirty="0" sz="3200" spc="14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SURF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76743"/>
            <a:ext cx="10241764" cy="688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Visualizing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spc="-23" b="1">
                <a:solidFill>
                  <a:srgbClr val="1a73e8"/>
                </a:solidFill>
                <a:latin typeface="DejaVu Sans"/>
                <a:cs typeface="DejaVu Sans"/>
              </a:rPr>
              <a:t>Features</a:t>
            </a:r>
            <a:r>
              <a:rPr dirty="0" sz="4400" spc="21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(Examples)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25326" y="3451879"/>
            <a:ext cx="1937264" cy="987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422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Harris</a:t>
            </a:r>
          </a:p>
          <a:p>
            <a:pPr marL="0" marR="0">
              <a:lnSpc>
                <a:spcPts val="3724"/>
              </a:lnSpc>
              <a:spcBef>
                <a:spcPts val="75"/>
              </a:spcBef>
              <a:spcAft>
                <a:spcPts val="0"/>
              </a:spcAft>
            </a:pP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Corners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6532" y="3690004"/>
            <a:ext cx="1150979" cy="511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SIFT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90160" y="3690004"/>
            <a:ext cx="1120425" cy="511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ORB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3449" y="5346853"/>
            <a:ext cx="9738390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spc="-14" b="1">
                <a:solidFill>
                  <a:srgbClr val="1a73e8"/>
                </a:solidFill>
                <a:latin typeface="DejaVu Sans"/>
                <a:cs typeface="DejaVu Sans"/>
              </a:rPr>
              <a:t>Variability:</a:t>
            </a:r>
            <a:r>
              <a:rPr dirty="0" sz="2800" spc="-7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How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diﬀerent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31">
                <a:solidFill>
                  <a:srgbClr val="202124"/>
                </a:solidFill>
                <a:latin typeface="DejaVu Sans"/>
                <a:cs typeface="DejaVu Sans"/>
              </a:rPr>
              <a:t>are</a:t>
            </a:r>
            <a:r>
              <a:rPr dirty="0" sz="2800" spc="3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the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20">
                <a:solidFill>
                  <a:srgbClr val="202124"/>
                </a:solidFill>
                <a:latin typeface="DejaVu Sans"/>
                <a:cs typeface="DejaVu Sans"/>
              </a:rPr>
              <a:t>from</a:t>
            </a:r>
            <a:r>
              <a:rPr dirty="0" sz="2800" spc="2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each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3449" y="5851678"/>
            <a:ext cx="1288377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other?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3449" y="6489853"/>
            <a:ext cx="9267751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1a73e8"/>
                </a:solidFill>
                <a:latin typeface="DejaVu Sans"/>
                <a:cs typeface="DejaVu Sans"/>
              </a:rPr>
              <a:t>Repeatability:</a:t>
            </a:r>
            <a:r>
              <a:rPr dirty="0" sz="2800" spc="-85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Can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the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same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be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found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76743"/>
            <a:ext cx="9535207" cy="688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23" b="1">
                <a:solidFill>
                  <a:srgbClr val="1a73e8"/>
                </a:solidFill>
                <a:latin typeface="DejaVu Sans"/>
                <a:cs typeface="DejaVu Sans"/>
              </a:rPr>
              <a:t>Features</a:t>
            </a:r>
            <a:r>
              <a:rPr dirty="0" sz="4400" spc="21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in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spc="-17" b="1">
                <a:solidFill>
                  <a:srgbClr val="1a73e8"/>
                </a:solidFill>
                <a:latin typeface="DejaVu Sans"/>
                <a:cs typeface="DejaVu Sans"/>
              </a:rPr>
              <a:t>Panorama</a:t>
            </a:r>
            <a:r>
              <a:rPr dirty="0" sz="4400" spc="17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Images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499" y="1727854"/>
            <a:ext cx="6394860" cy="1654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1a73e8"/>
                </a:solidFill>
                <a:latin typeface="DejaVu Sans"/>
                <a:cs typeface="DejaVu Sans"/>
              </a:rPr>
              <a:t>•</a:t>
            </a:r>
            <a:r>
              <a:rPr dirty="0" sz="3200" spc="-159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The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Goal:</a:t>
            </a:r>
            <a:r>
              <a:rPr dirty="0" sz="3200" spc="-97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Align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overlapping</a:t>
            </a:r>
          </a:p>
          <a:p>
            <a:pPr marL="380999" marR="0">
              <a:lnSpc>
                <a:spcPts val="3724"/>
              </a:lnSpc>
              <a:spcBef>
                <a:spcPts val="775"/>
              </a:spcBef>
              <a:spcAft>
                <a:spcPts val="0"/>
              </a:spcAft>
            </a:pP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images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to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14">
                <a:solidFill>
                  <a:srgbClr val="202124"/>
                </a:solidFill>
                <a:latin typeface="DejaVu Sans"/>
                <a:cs typeface="DejaVu Sans"/>
              </a:rPr>
              <a:t>create</a:t>
            </a:r>
            <a:r>
              <a:rPr dirty="0" sz="3200" spc="14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a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seamless</a:t>
            </a:r>
          </a:p>
          <a:p>
            <a:pPr marL="380999" marR="0">
              <a:lnSpc>
                <a:spcPts val="3724"/>
              </a:lnSpc>
              <a:spcBef>
                <a:spcPts val="775"/>
              </a:spcBef>
              <a:spcAft>
                <a:spcPts val="0"/>
              </a:spcAft>
            </a:pP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panorama.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499" y="3680479"/>
            <a:ext cx="5540700" cy="511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1a73e8"/>
                </a:solidFill>
                <a:latin typeface="DejaVu Sans"/>
                <a:cs typeface="DejaVu Sans"/>
              </a:rPr>
              <a:t>•</a:t>
            </a:r>
            <a:r>
              <a:rPr dirty="0" sz="3200" spc="-159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The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Challenge:</a:t>
            </a:r>
            <a:r>
              <a:rPr dirty="0" sz="3200" spc="-95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34">
                <a:solidFill>
                  <a:srgbClr val="202124"/>
                </a:solidFill>
                <a:latin typeface="DejaVu Sans"/>
                <a:cs typeface="DejaVu Sans"/>
              </a:rPr>
              <a:t>Finding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2499" y="4242454"/>
            <a:ext cx="5615857" cy="1082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common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10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  <a:r>
              <a:rPr dirty="0" sz="3200" spc="1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between</a:t>
            </a:r>
          </a:p>
          <a:p>
            <a:pPr marL="0" marR="0">
              <a:lnSpc>
                <a:spcPts val="3724"/>
              </a:lnSpc>
              <a:spcBef>
                <a:spcPts val="775"/>
              </a:spcBef>
              <a:spcAft>
                <a:spcPts val="0"/>
              </a:spcAft>
            </a:pP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the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overlapping</a:t>
            </a:r>
            <a:r>
              <a:rPr dirty="0" sz="32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10">
                <a:solidFill>
                  <a:srgbClr val="202124"/>
                </a:solidFill>
                <a:latin typeface="DejaVu Sans"/>
                <a:cs typeface="DejaVu Sans"/>
              </a:rPr>
              <a:t>regions.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91574" y="4493659"/>
            <a:ext cx="1547194" cy="687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b="1">
                <a:solidFill>
                  <a:srgbClr val="1a73e8"/>
                </a:solidFill>
                <a:latin typeface="DejaVu Sans"/>
                <a:cs typeface="DejaVu Sans"/>
              </a:rPr>
              <a:t>Matched</a:t>
            </a:r>
          </a:p>
          <a:p>
            <a:pPr marL="0" marR="0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spc="-12" b="1">
                <a:solidFill>
                  <a:srgbClr val="1a73e8"/>
                </a:solidFill>
                <a:latin typeface="DejaVu Sans"/>
                <a:cs typeface="DejaVu Sans"/>
              </a:rPr>
              <a:t>Features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33499" y="5599059"/>
            <a:ext cx="4996593" cy="12796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 spc="-18" b="1">
                <a:solidFill>
                  <a:srgbClr val="5f6368"/>
                </a:solidFill>
                <a:latin typeface="DejaVu Sans"/>
                <a:cs typeface="DejaVu Sans"/>
              </a:rPr>
              <a:t>Feature</a:t>
            </a:r>
            <a:r>
              <a:rPr dirty="0" sz="2600" spc="17" b="1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600" b="1">
                <a:solidFill>
                  <a:srgbClr val="5f6368"/>
                </a:solidFill>
                <a:latin typeface="DejaVu Sans"/>
                <a:cs typeface="DejaVu Sans"/>
              </a:rPr>
              <a:t>Detection:</a:t>
            </a:r>
            <a:r>
              <a:rPr dirty="0" sz="2600" spc="-79" b="1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Identify</a:t>
            </a:r>
          </a:p>
          <a:p>
            <a:pPr marL="0" marR="0">
              <a:lnSpc>
                <a:spcPts val="3025"/>
              </a:lnSpc>
              <a:spcBef>
                <a:spcPts val="399"/>
              </a:spcBef>
              <a:spcAft>
                <a:spcPts val="0"/>
              </a:spcAft>
            </a:pP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distinct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points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(e.g.,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corners,</a:t>
            </a:r>
          </a:p>
          <a:p>
            <a:pPr marL="0" marR="0">
              <a:lnSpc>
                <a:spcPts val="3025"/>
              </a:lnSpc>
              <a:spcBef>
                <a:spcPts val="399"/>
              </a:spcBef>
              <a:spcAft>
                <a:spcPts val="0"/>
              </a:spcAft>
            </a:pP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edges)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in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each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5f6368"/>
                </a:solidFill>
                <a:latin typeface="DejaVu Sans"/>
                <a:cs typeface="DejaVu Sans"/>
              </a:rPr>
              <a:t>image.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49703" y="6498465"/>
            <a:ext cx="1036837" cy="3336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5f6368"/>
                </a:solidFill>
                <a:latin typeface="DejaVu Sans"/>
                <a:cs typeface="DejaVu Sans"/>
              </a:rPr>
              <a:t>Image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65691" y="6498465"/>
            <a:ext cx="1318660" cy="3336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a73e8"/>
                </a:solidFill>
                <a:latin typeface="DejaVu Sans"/>
                <a:cs typeface="DejaVu Sans"/>
              </a:rPr>
              <a:t>Image</a:t>
            </a:r>
            <a:r>
              <a:rPr dirty="0" sz="20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a73e8"/>
                </a:solidFill>
                <a:latin typeface="DejaVu Sans"/>
                <a:cs typeface="DejaVu Sans"/>
              </a:rPr>
              <a:t>B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67218"/>
            <a:ext cx="8299520" cy="688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37" b="1">
                <a:solidFill>
                  <a:srgbClr val="202124"/>
                </a:solidFill>
                <a:latin typeface="DejaVu Sans"/>
                <a:cs typeface="DejaVu Sans"/>
              </a:rPr>
              <a:t>How</a:t>
            </a:r>
            <a:r>
              <a:rPr dirty="0" sz="4400" spc="-37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400" spc="-52" b="1">
                <a:solidFill>
                  <a:srgbClr val="202124"/>
                </a:solidFill>
                <a:latin typeface="DejaVu Sans"/>
                <a:cs typeface="DejaVu Sans"/>
              </a:rPr>
              <a:t>Panoramas</a:t>
            </a:r>
            <a:r>
              <a:rPr dirty="0" sz="4400" spc="-23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400" spc="-37" b="1">
                <a:solidFill>
                  <a:srgbClr val="202124"/>
                </a:solidFill>
                <a:latin typeface="DejaVu Sans"/>
                <a:cs typeface="DejaVu Sans"/>
              </a:rPr>
              <a:t>Are</a:t>
            </a:r>
            <a:r>
              <a:rPr dirty="0" sz="4400" spc="-37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400" spc="-37" b="1">
                <a:solidFill>
                  <a:srgbClr val="202124"/>
                </a:solidFill>
                <a:latin typeface="DejaVu Sans"/>
                <a:cs typeface="DejaVu Sans"/>
              </a:rPr>
              <a:t>Made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499" y="1996380"/>
            <a:ext cx="5235103" cy="65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7"/>
              </a:lnSpc>
              <a:spcBef>
                <a:spcPts val="0"/>
              </a:spcBef>
              <a:spcAft>
                <a:spcPts val="0"/>
              </a:spcAft>
            </a:pPr>
            <a:r>
              <a:rPr dirty="0" sz="7200" baseline="-12500" b="1">
                <a:solidFill>
                  <a:srgbClr val="1a73e8"/>
                </a:solidFill>
                <a:latin typeface="DejaVu Sans Mono"/>
                <a:cs typeface="DejaVu Sans Mono"/>
              </a:rPr>
              <a:t>[01]</a:t>
            </a:r>
            <a:r>
              <a:rPr dirty="0" sz="3600">
                <a:solidFill>
                  <a:srgbClr val="202124"/>
                </a:solidFill>
                <a:latin typeface="DejaVu Sans"/>
                <a:cs typeface="DejaVu Sans"/>
              </a:rPr>
              <a:t>Detect</a:t>
            </a:r>
            <a:r>
              <a:rPr dirty="0" sz="3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600" spc="-10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499" y="3282255"/>
            <a:ext cx="5105623" cy="65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7"/>
              </a:lnSpc>
              <a:spcBef>
                <a:spcPts val="0"/>
              </a:spcBef>
              <a:spcAft>
                <a:spcPts val="0"/>
              </a:spcAft>
            </a:pPr>
            <a:r>
              <a:rPr dirty="0" sz="7200" baseline="-12500" b="1">
                <a:solidFill>
                  <a:srgbClr val="1a73e8"/>
                </a:solidFill>
                <a:latin typeface="DejaVu Sans Mono"/>
                <a:cs typeface="DejaVu Sans Mono"/>
              </a:rPr>
              <a:t>[02]</a:t>
            </a:r>
            <a:r>
              <a:rPr dirty="0" sz="3600">
                <a:solidFill>
                  <a:srgbClr val="202124"/>
                </a:solidFill>
                <a:latin typeface="DejaVu Sans"/>
                <a:cs typeface="DejaVu Sans"/>
              </a:rPr>
              <a:t>Match</a:t>
            </a:r>
            <a:r>
              <a:rPr dirty="0" sz="3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600" spc="-10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1499" y="4568130"/>
            <a:ext cx="10644037" cy="20335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7"/>
              </a:lnSpc>
              <a:spcBef>
                <a:spcPts val="0"/>
              </a:spcBef>
              <a:spcAft>
                <a:spcPts val="0"/>
              </a:spcAft>
            </a:pPr>
            <a:r>
              <a:rPr dirty="0" sz="7200" baseline="-12500" b="1">
                <a:solidFill>
                  <a:srgbClr val="1a73e8"/>
                </a:solidFill>
                <a:latin typeface="DejaVu Sans Mono"/>
                <a:cs typeface="DejaVu Sans Mono"/>
              </a:rPr>
              <a:t>[03]</a:t>
            </a:r>
            <a:r>
              <a:rPr dirty="0" sz="3600">
                <a:solidFill>
                  <a:srgbClr val="202124"/>
                </a:solidFill>
                <a:latin typeface="DejaVu Sans"/>
                <a:cs typeface="DejaVu Sans"/>
              </a:rPr>
              <a:t>Estimate</a:t>
            </a:r>
            <a:r>
              <a:rPr dirty="0" sz="3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600">
                <a:solidFill>
                  <a:srgbClr val="202124"/>
                </a:solidFill>
                <a:latin typeface="DejaVu Sans"/>
                <a:cs typeface="DejaVu Sans"/>
              </a:rPr>
              <a:t>transformation</a:t>
            </a:r>
            <a:r>
              <a:rPr dirty="0" sz="3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600">
                <a:solidFill>
                  <a:srgbClr val="202124"/>
                </a:solidFill>
                <a:latin typeface="DejaVu Sans"/>
                <a:cs typeface="DejaVu Sans"/>
              </a:rPr>
              <a:t>(homography)</a:t>
            </a:r>
          </a:p>
          <a:p>
            <a:pPr marL="0" marR="0">
              <a:lnSpc>
                <a:spcPts val="5587"/>
              </a:lnSpc>
              <a:spcBef>
                <a:spcPts val="5220"/>
              </a:spcBef>
              <a:spcAft>
                <a:spcPts val="0"/>
              </a:spcAft>
            </a:pPr>
            <a:r>
              <a:rPr dirty="0" sz="4800" b="1">
                <a:solidFill>
                  <a:srgbClr val="1a73e8"/>
                </a:solidFill>
                <a:latin typeface="DejaVu Sans Mono"/>
                <a:cs typeface="DejaVu Sans Mono"/>
              </a:rPr>
              <a:t>[04]</a:t>
            </a:r>
            <a:r>
              <a:rPr dirty="0" sz="5400" baseline="9375">
                <a:solidFill>
                  <a:srgbClr val="202124"/>
                </a:solidFill>
                <a:latin typeface="DejaVu Sans"/>
                <a:cs typeface="DejaVu Sans"/>
              </a:rPr>
              <a:t>Blend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76743"/>
            <a:ext cx="8323693" cy="688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17" b="1">
                <a:solidFill>
                  <a:srgbClr val="1a73e8"/>
                </a:solidFill>
                <a:latin typeface="DejaVu Sans"/>
                <a:cs typeface="DejaVu Sans"/>
              </a:rPr>
              <a:t>Panorama</a:t>
            </a:r>
            <a:r>
              <a:rPr dirty="0" sz="4400" spc="17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Example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Image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499" y="1299641"/>
            <a:ext cx="422076" cy="5703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9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1a73e8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2499" y="1336828"/>
            <a:ext cx="5019626" cy="94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1a73e8"/>
                </a:solidFill>
                <a:latin typeface="DejaVu Sans"/>
                <a:cs typeface="DejaVu Sans"/>
              </a:rPr>
              <a:t>Before</a:t>
            </a:r>
            <a:r>
              <a:rPr dirty="0" sz="28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2800" b="1">
                <a:solidFill>
                  <a:srgbClr val="1a73e8"/>
                </a:solidFill>
                <a:latin typeface="DejaVu Sans"/>
                <a:cs typeface="DejaVu Sans"/>
              </a:rPr>
              <a:t>State:</a:t>
            </a:r>
            <a:r>
              <a:rPr dirty="0" sz="2800" spc="-83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Capturing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a</a:t>
            </a:r>
          </a:p>
          <a:p>
            <a:pPr marL="0" marR="0">
              <a:lnSpc>
                <a:spcPts val="3259"/>
              </a:lnSpc>
              <a:spcBef>
                <a:spcPts val="64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scene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8">
                <a:solidFill>
                  <a:srgbClr val="202124"/>
                </a:solidFill>
                <a:latin typeface="DejaVu Sans"/>
                <a:cs typeface="DejaVu Sans"/>
              </a:rPr>
              <a:t>requires</a:t>
            </a:r>
            <a:r>
              <a:rPr dirty="0" sz="2800" spc="17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taking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73737" y="1688752"/>
            <a:ext cx="4911923" cy="392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Before:</a:t>
            </a: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Overlapping</a:t>
            </a: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Photos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2499" y="2336953"/>
            <a:ext cx="4766407" cy="14426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sequential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photos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with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a</a:t>
            </a:r>
          </a:p>
          <a:p>
            <a:pPr marL="0" marR="0">
              <a:lnSpc>
                <a:spcPts val="3259"/>
              </a:lnSpc>
              <a:spcBef>
                <a:spcPts val="64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20-30%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overlap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to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2">
                <a:solidFill>
                  <a:srgbClr val="202124"/>
                </a:solidFill>
                <a:latin typeface="DejaVu Sans"/>
                <a:cs typeface="DejaVu Sans"/>
              </a:rPr>
              <a:t>ensure</a:t>
            </a:r>
          </a:p>
          <a:p>
            <a:pPr marL="0" marR="0">
              <a:lnSpc>
                <a:spcPts val="3259"/>
              </a:lnSpc>
              <a:spcBef>
                <a:spcPts val="64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common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0">
                <a:solidFill>
                  <a:srgbClr val="202124"/>
                </a:solidFill>
                <a:latin typeface="DejaVu Sans"/>
                <a:cs typeface="DejaVu Sans"/>
              </a:rPr>
              <a:t>exist.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01532" y="2726977"/>
            <a:ext cx="1007268" cy="392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Imag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38939" y="2917477"/>
            <a:ext cx="1418778" cy="392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mage</a:t>
            </a: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71499" y="4071416"/>
            <a:ext cx="422076" cy="5703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9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1a73e8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52499" y="4108603"/>
            <a:ext cx="4975426" cy="24427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1a73e8"/>
                </a:solidFill>
                <a:latin typeface="DejaVu Sans"/>
                <a:cs typeface="DejaVu Sans"/>
              </a:rPr>
              <a:t>After</a:t>
            </a:r>
            <a:r>
              <a:rPr dirty="0" sz="28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2800" b="1">
                <a:solidFill>
                  <a:srgbClr val="1a73e8"/>
                </a:solidFill>
                <a:latin typeface="DejaVu Sans"/>
                <a:cs typeface="DejaVu Sans"/>
              </a:rPr>
              <a:t>State:</a:t>
            </a:r>
            <a:r>
              <a:rPr dirty="0" sz="2800" spc="-85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Computer</a:t>
            </a:r>
          </a:p>
          <a:p>
            <a:pPr marL="0" marR="0">
              <a:lnSpc>
                <a:spcPts val="3259"/>
              </a:lnSpc>
              <a:spcBef>
                <a:spcPts val="665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vision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algorithms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detect</a:t>
            </a:r>
          </a:p>
          <a:p>
            <a:pPr marL="0" marR="0">
              <a:lnSpc>
                <a:spcPts val="3259"/>
              </a:lnSpc>
              <a:spcBef>
                <a:spcPts val="64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features,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align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the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images,</a:t>
            </a:r>
          </a:p>
          <a:p>
            <a:pPr marL="0" marR="0">
              <a:lnSpc>
                <a:spcPts val="3259"/>
              </a:lnSpc>
              <a:spcBef>
                <a:spcPts val="64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and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blend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them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into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a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ﬁnal</a:t>
            </a:r>
          </a:p>
          <a:p>
            <a:pPr marL="0" marR="0">
              <a:lnSpc>
                <a:spcPts val="3259"/>
              </a:lnSpc>
              <a:spcBef>
                <a:spcPts val="64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stitched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panorama.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68553" y="4422427"/>
            <a:ext cx="4522291" cy="392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After:</a:t>
            </a: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Stitched</a:t>
            </a: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400" b="1">
                <a:solidFill>
                  <a:srgbClr val="5f6368"/>
                </a:solidFill>
                <a:latin typeface="DejaVu Sans"/>
                <a:cs typeface="DejaVu Sans"/>
              </a:rPr>
              <a:t>Panorama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37622" y="5480203"/>
            <a:ext cx="4184124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1a73e8"/>
                </a:solidFill>
                <a:latin typeface="DejaVu Sans"/>
                <a:cs typeface="DejaVu Sans"/>
              </a:rPr>
              <a:t>Seamless</a:t>
            </a:r>
            <a:r>
              <a:rPr dirty="0" sz="28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2800" spc="-10" b="1">
                <a:solidFill>
                  <a:srgbClr val="1a73e8"/>
                </a:solidFill>
                <a:latin typeface="DejaVu Sans"/>
                <a:cs typeface="DejaVu Sans"/>
              </a:rPr>
              <a:t>Panorama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243048"/>
            <a:ext cx="10923223" cy="13552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25" b="1">
                <a:solidFill>
                  <a:srgbClr val="1a73e8"/>
                </a:solidFill>
                <a:latin typeface="DejaVu Sans"/>
                <a:cs typeface="DejaVu Sans"/>
              </a:rPr>
              <a:t>Feature</a:t>
            </a:r>
            <a:r>
              <a:rPr dirty="0" sz="4400" spc="25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Detection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Demo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spc="12" b="1">
                <a:solidFill>
                  <a:srgbClr val="1a73e8"/>
                </a:solidFill>
                <a:latin typeface="DejaVu Sans"/>
                <a:cs typeface="DejaVu Sans"/>
              </a:rPr>
              <a:t>(Python</a:t>
            </a:r>
            <a:r>
              <a:rPr dirty="0" sz="4400" spc="-14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/</a:t>
            </a:r>
          </a:p>
          <a:p>
            <a:pPr marL="0" marR="0">
              <a:lnSpc>
                <a:spcPts val="5121"/>
              </a:lnSpc>
              <a:spcBef>
                <a:spcPts val="178"/>
              </a:spcBef>
              <a:spcAft>
                <a:spcPts val="0"/>
              </a:spcAft>
            </a:pP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OpenCV)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0446" y="2221886"/>
            <a:ext cx="8938390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Python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implementation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of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7">
                <a:solidFill>
                  <a:srgbClr val="202124"/>
                </a:solidFill>
                <a:latin typeface="DejaVu Sans"/>
                <a:cs typeface="DejaVu Sans"/>
              </a:rPr>
              <a:t>SIFT</a:t>
            </a:r>
            <a:r>
              <a:rPr dirty="0" sz="2800" spc="15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0">
                <a:solidFill>
                  <a:srgbClr val="202124"/>
                </a:solidFill>
                <a:latin typeface="DejaVu Sans"/>
                <a:cs typeface="DejaVu Sans"/>
              </a:rPr>
              <a:t>feature</a:t>
            </a:r>
            <a:r>
              <a:rPr dirty="0" sz="2800" spc="1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detection: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9624" y="3264934"/>
            <a:ext cx="3180043" cy="7538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ff"/>
                </a:solidFill>
                <a:latin typeface="DejaVu Sans Mono"/>
                <a:cs typeface="DejaVu Sans Mono"/>
              </a:rPr>
              <a:t>import</a:t>
            </a:r>
            <a:r>
              <a:rPr dirty="0" sz="2200">
                <a:solidFill>
                  <a:srgbClr val="0000ff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cv2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0000ff"/>
                </a:solidFill>
                <a:latin typeface="DejaVu Sans Mono"/>
                <a:cs typeface="DejaVu Sans Mono"/>
              </a:rPr>
              <a:t>as</a:t>
            </a:r>
            <a:r>
              <a:rPr dirty="0" sz="2200">
                <a:solidFill>
                  <a:srgbClr val="0000ff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cv</a:t>
            </a:r>
          </a:p>
          <a:p>
            <a:pPr marL="0" marR="0">
              <a:lnSpc>
                <a:spcPts val="2560"/>
              </a:lnSpc>
              <a:spcBef>
                <a:spcPts val="464"/>
              </a:spcBef>
              <a:spcAft>
                <a:spcPts val="0"/>
              </a:spcAft>
            </a:pPr>
            <a:r>
              <a:rPr dirty="0" sz="2200">
                <a:solidFill>
                  <a:srgbClr val="0000ff"/>
                </a:solidFill>
                <a:latin typeface="DejaVu Sans Mono"/>
                <a:cs typeface="DejaVu Sans Mono"/>
              </a:rPr>
              <a:t>import</a:t>
            </a:r>
            <a:r>
              <a:rPr dirty="0" sz="2200">
                <a:solidFill>
                  <a:srgbClr val="0000ff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numpy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0000ff"/>
                </a:solidFill>
                <a:latin typeface="DejaVu Sans Mono"/>
                <a:cs typeface="DejaVu Sans Mono"/>
              </a:rPr>
              <a:t>as</a:t>
            </a:r>
            <a:r>
              <a:rPr dirty="0" sz="2200">
                <a:solidFill>
                  <a:srgbClr val="0000ff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np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9624" y="4436509"/>
            <a:ext cx="5029722" cy="3633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#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Load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the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image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in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grayscale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9624" y="4836559"/>
            <a:ext cx="9570714" cy="3633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img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cv.imread(</a:t>
            </a:r>
            <a:r>
              <a:rPr dirty="0" sz="2200">
                <a:solidFill>
                  <a:srgbClr val="008000"/>
                </a:solidFill>
                <a:latin typeface="DejaVu Sans Mono"/>
                <a:cs typeface="DejaVu Sans Mono"/>
              </a:rPr>
              <a:t>'target_image.jpg'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,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cv.IMREAD_GRAYSCALE)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9624" y="5617609"/>
            <a:ext cx="5197906" cy="7538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#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Initialize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the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SIFT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detector</a:t>
            </a:r>
          </a:p>
          <a:p>
            <a:pPr marL="0" marR="0">
              <a:lnSpc>
                <a:spcPts val="2560"/>
              </a:lnSpc>
              <a:spcBef>
                <a:spcPts val="464"/>
              </a:spcBef>
              <a:spcAft>
                <a:spcPts val="0"/>
              </a:spcAft>
            </a:pP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sift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cv.SIFT_create()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76743"/>
            <a:ext cx="10923223" cy="13552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25" b="1">
                <a:solidFill>
                  <a:srgbClr val="1a73e8"/>
                </a:solidFill>
                <a:latin typeface="DejaVu Sans"/>
                <a:cs typeface="DejaVu Sans"/>
              </a:rPr>
              <a:t>Feature</a:t>
            </a:r>
            <a:r>
              <a:rPr dirty="0" sz="4400" spc="25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Detection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Demo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spc="12" b="1">
                <a:solidFill>
                  <a:srgbClr val="1a73e8"/>
                </a:solidFill>
                <a:latin typeface="DejaVu Sans"/>
                <a:cs typeface="DejaVu Sans"/>
              </a:rPr>
              <a:t>(Python</a:t>
            </a:r>
            <a:r>
              <a:rPr dirty="0" sz="4400" spc="-14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/</a:t>
            </a:r>
          </a:p>
          <a:p>
            <a:pPr marL="0" marR="0">
              <a:lnSpc>
                <a:spcPts val="5121"/>
              </a:lnSpc>
              <a:spcBef>
                <a:spcPts val="178"/>
              </a:spcBef>
              <a:spcAft>
                <a:spcPts val="0"/>
              </a:spcAft>
            </a:pP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OpenCV)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7943" y="2599044"/>
            <a:ext cx="9631769" cy="19122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dirty="0" sz="2150">
                <a:solidFill>
                  <a:srgbClr val="808080"/>
                </a:solidFill>
                <a:latin typeface="DejaVu Sans Mono"/>
                <a:cs typeface="DejaVu Sans Mono"/>
              </a:rPr>
              <a:t>#</a:t>
            </a:r>
            <a:r>
              <a:rPr dirty="0" sz="2150" spc="3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Detect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keypoints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and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compute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descriptors</a:t>
            </a:r>
          </a:p>
          <a:p>
            <a:pPr marL="0" marR="0">
              <a:lnSpc>
                <a:spcPts val="2531"/>
              </a:lnSpc>
              <a:spcBef>
                <a:spcPts val="593"/>
              </a:spcBef>
              <a:spcAft>
                <a:spcPts val="0"/>
              </a:spcAft>
            </a:pP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keypoints,</a:t>
            </a: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descriptors</a:t>
            </a: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15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2150" spc="3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sift.detectAndCompute(img,</a:t>
            </a: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0000ff"/>
                </a:solidFill>
                <a:latin typeface="DejaVu Sans Mono"/>
                <a:cs typeface="DejaVu Sans Mono"/>
              </a:rPr>
              <a:t>None</a:t>
            </a:r>
            <a:r>
              <a:rPr dirty="0" sz="2150">
                <a:solidFill>
                  <a:srgbClr val="202124"/>
                </a:solidFill>
                <a:latin typeface="DejaVu Sans Mono"/>
                <a:cs typeface="DejaVu Sans Mono"/>
              </a:rPr>
              <a:t>)</a:t>
            </a:r>
          </a:p>
          <a:p>
            <a:pPr marL="0" marR="0">
              <a:lnSpc>
                <a:spcPts val="2531"/>
              </a:lnSpc>
              <a:spcBef>
                <a:spcPts val="593"/>
              </a:spcBef>
              <a:spcAft>
                <a:spcPts val="0"/>
              </a:spcAft>
            </a:pPr>
            <a:r>
              <a:rPr dirty="0" sz="2150">
                <a:solidFill>
                  <a:srgbClr val="808080"/>
                </a:solidFill>
                <a:latin typeface="DejaVu Sans Mono"/>
                <a:cs typeface="DejaVu Sans Mono"/>
              </a:rPr>
              <a:t>#</a:t>
            </a:r>
            <a:r>
              <a:rPr dirty="0" sz="2150" spc="3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Draw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keypoints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on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the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original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808080"/>
                </a:solidFill>
                <a:latin typeface="DejaVu Sans Mono"/>
                <a:cs typeface="DejaVu Sans Mono"/>
              </a:rPr>
              <a:t>image</a:t>
            </a:r>
          </a:p>
          <a:p>
            <a:pPr marL="0" marR="0">
              <a:lnSpc>
                <a:spcPts val="2531"/>
              </a:lnSpc>
              <a:spcBef>
                <a:spcPts val="468"/>
              </a:spcBef>
              <a:spcAft>
                <a:spcPts val="0"/>
              </a:spcAft>
            </a:pP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img_with_keypoints</a:t>
            </a: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15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2150" spc="3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cv.drawKeypoints(</a:t>
            </a:r>
          </a:p>
          <a:p>
            <a:pPr marL="665205" marR="0">
              <a:lnSpc>
                <a:spcPts val="2531"/>
              </a:lnSpc>
              <a:spcBef>
                <a:spcPts val="593"/>
              </a:spcBef>
              <a:spcAft>
                <a:spcPts val="0"/>
              </a:spcAft>
            </a:pP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img,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73149" y="4532619"/>
            <a:ext cx="1815414" cy="3596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keypoints,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3205" y="4923144"/>
            <a:ext cx="983963" cy="3596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dirty="0" sz="2150" spc="15">
                <a:solidFill>
                  <a:srgbClr val="0000ff"/>
                </a:solidFill>
                <a:latin typeface="DejaVu Sans Mono"/>
                <a:cs typeface="DejaVu Sans Mono"/>
              </a:rPr>
              <a:t>None</a:t>
            </a:r>
            <a:r>
              <a:rPr dirty="0" sz="2150">
                <a:solidFill>
                  <a:srgbClr val="202124"/>
                </a:solidFill>
                <a:latin typeface="DejaVu Sans Mono"/>
                <a:cs typeface="DejaVu Sans Mono"/>
              </a:rPr>
              <a:t>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73149" y="5304144"/>
            <a:ext cx="8134870" cy="3596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dirty="0" sz="2150" spc="15">
                <a:solidFill>
                  <a:srgbClr val="202124"/>
                </a:solidFill>
                <a:latin typeface="DejaVu Sans Mono"/>
                <a:cs typeface="DejaVu Sans Mono"/>
              </a:rPr>
              <a:t>flags=cv.DRAW_MATCHES_FLAGS_DRAW_RICH_KEYPOINTS)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76743"/>
            <a:ext cx="10923223" cy="13552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25" b="1">
                <a:solidFill>
                  <a:srgbClr val="1a73e8"/>
                </a:solidFill>
                <a:latin typeface="DejaVu Sans"/>
                <a:cs typeface="DejaVu Sans"/>
              </a:rPr>
              <a:t>Feature</a:t>
            </a:r>
            <a:r>
              <a:rPr dirty="0" sz="4400" spc="25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Detection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Demo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spc="12" b="1">
                <a:solidFill>
                  <a:srgbClr val="1a73e8"/>
                </a:solidFill>
                <a:latin typeface="DejaVu Sans"/>
                <a:cs typeface="DejaVu Sans"/>
              </a:rPr>
              <a:t>(Python</a:t>
            </a:r>
            <a:r>
              <a:rPr dirty="0" sz="4400" spc="-14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/</a:t>
            </a:r>
          </a:p>
          <a:p>
            <a:pPr marL="0" marR="0">
              <a:lnSpc>
                <a:spcPts val="5121"/>
              </a:lnSpc>
              <a:spcBef>
                <a:spcPts val="178"/>
              </a:spcBef>
              <a:spcAft>
                <a:spcPts val="0"/>
              </a:spcAft>
            </a:pP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OpenCV)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2499" y="2336953"/>
            <a:ext cx="8938390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Python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implementation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of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7">
                <a:solidFill>
                  <a:srgbClr val="202124"/>
                </a:solidFill>
                <a:latin typeface="DejaVu Sans"/>
                <a:cs typeface="DejaVu Sans"/>
              </a:rPr>
              <a:t>SIFT</a:t>
            </a:r>
            <a:r>
              <a:rPr dirty="0" sz="2800" spc="15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0">
                <a:solidFill>
                  <a:srgbClr val="202124"/>
                </a:solidFill>
                <a:latin typeface="DejaVu Sans"/>
                <a:cs typeface="DejaVu Sans"/>
              </a:rPr>
              <a:t>feature</a:t>
            </a:r>
            <a:r>
              <a:rPr dirty="0" sz="2800" spc="1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detection: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9624" y="3264934"/>
            <a:ext cx="7888950" cy="11443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#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Display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the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808080"/>
                </a:solidFill>
                <a:latin typeface="DejaVu Sans Mono"/>
                <a:cs typeface="DejaVu Sans Mono"/>
              </a:rPr>
              <a:t>result</a:t>
            </a:r>
          </a:p>
          <a:p>
            <a:pPr marL="0" marR="0">
              <a:lnSpc>
                <a:spcPts val="2560"/>
              </a:lnSpc>
              <a:spcBef>
                <a:spcPts val="464"/>
              </a:spcBef>
              <a:spcAft>
                <a:spcPts val="0"/>
              </a:spcAft>
            </a:pP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cv.imshow(</a:t>
            </a:r>
            <a:r>
              <a:rPr dirty="0" sz="2200">
                <a:solidFill>
                  <a:srgbClr val="008000"/>
                </a:solidFill>
                <a:latin typeface="DejaVu Sans Mono"/>
                <a:cs typeface="DejaVu Sans Mono"/>
              </a:rPr>
              <a:t>'SIFT</a:t>
            </a:r>
            <a:r>
              <a:rPr dirty="0" sz="2200">
                <a:solidFill>
                  <a:srgbClr val="008000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008000"/>
                </a:solidFill>
                <a:latin typeface="DejaVu Sans Mono"/>
                <a:cs typeface="DejaVu Sans Mono"/>
              </a:rPr>
              <a:t>Features'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,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img_with_keypoints)</a:t>
            </a:r>
          </a:p>
          <a:p>
            <a:pPr marL="0" marR="0">
              <a:lnSpc>
                <a:spcPts val="25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cv.waitKey(</a:t>
            </a:r>
            <a:r>
              <a:rPr dirty="0" sz="2200">
                <a:solidFill>
                  <a:srgbClr val="0000ff"/>
                </a:solidFill>
                <a:latin typeface="DejaVu Sans Mono"/>
                <a:cs typeface="DejaVu Sans Mono"/>
              </a:rPr>
              <a:t>0</a:t>
            </a: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9624" y="4436509"/>
            <a:ext cx="3852664" cy="3633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202124"/>
                </a:solidFill>
                <a:latin typeface="DejaVu Sans Mono"/>
                <a:cs typeface="DejaVu Sans Mono"/>
              </a:rPr>
              <a:t>cv.destroyAllWindows()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76743"/>
            <a:ext cx="8565396" cy="688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25" b="1">
                <a:solidFill>
                  <a:srgbClr val="1a73e8"/>
                </a:solidFill>
                <a:latin typeface="DejaVu Sans"/>
                <a:cs typeface="DejaVu Sans"/>
              </a:rPr>
              <a:t>Feature</a:t>
            </a:r>
            <a:r>
              <a:rPr dirty="0" sz="4400" spc="25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Matching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499" y="1636525"/>
            <a:ext cx="10572391" cy="452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Implementing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5">
                <a:solidFill>
                  <a:srgbClr val="202124"/>
                </a:solidFill>
                <a:latin typeface="DejaVu Sans"/>
                <a:cs typeface="DejaVu Sans"/>
              </a:rPr>
              <a:t>Brute-Force</a:t>
            </a:r>
            <a:r>
              <a:rPr dirty="0" sz="2800" spc="15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Matching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with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0">
                <a:solidFill>
                  <a:srgbClr val="202124"/>
                </a:solidFill>
                <a:latin typeface="DejaVu Sans"/>
                <a:cs typeface="DejaVu Sans"/>
              </a:rPr>
              <a:t>Lowe's</a:t>
            </a:r>
            <a:r>
              <a:rPr dirty="0" sz="2800" spc="1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5">
                <a:solidFill>
                  <a:srgbClr val="202124"/>
                </a:solidFill>
                <a:latin typeface="DejaVu Sans"/>
                <a:cs typeface="DejaVu Sans"/>
              </a:rPr>
              <a:t>Ratio</a:t>
            </a:r>
            <a:r>
              <a:rPr dirty="0" sz="2800" spc="15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 spc="-119">
                <a:solidFill>
                  <a:srgbClr val="202124"/>
                </a:solidFill>
                <a:latin typeface="DejaVu Sans"/>
                <a:cs typeface="DejaVu Sans"/>
              </a:rPr>
              <a:t>Test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8173" y="2697202"/>
            <a:ext cx="3822501" cy="392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#</a:t>
            </a: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 </a:t>
            </a: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Match</a:t>
            </a: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 </a:t>
            </a: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descriptors.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8173" y="3192502"/>
            <a:ext cx="7125592" cy="8786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matches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bf.knnMatch(des1,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des2,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k=</a:t>
            </a:r>
            <a:r>
              <a:rPr dirty="0" sz="2400">
                <a:solidFill>
                  <a:srgbClr val="008000"/>
                </a:solidFill>
                <a:latin typeface="DejaVu Sans Mono"/>
                <a:cs typeface="DejaVu Sans Mono"/>
              </a:rPr>
              <a:t>2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)</a:t>
            </a:r>
          </a:p>
          <a:p>
            <a:pPr marL="0" marR="0">
              <a:lnSpc>
                <a:spcPts val="2793"/>
              </a:lnSpc>
              <a:spcBef>
                <a:spcPts val="1031"/>
              </a:spcBef>
              <a:spcAft>
                <a:spcPts val="0"/>
              </a:spcAft>
            </a:pP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#</a:t>
            </a: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 </a:t>
            </a: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Apply</a:t>
            </a: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 </a:t>
            </a: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ratio</a:t>
            </a: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 </a:t>
            </a:r>
            <a:r>
              <a:rPr dirty="0" sz="2400">
                <a:solidFill>
                  <a:srgbClr val="808080"/>
                </a:solidFill>
                <a:latin typeface="JGCEPH+DejaVu Sans Mono Oblique"/>
                <a:cs typeface="JGCEPH+DejaVu Sans Mono Oblique"/>
              </a:rPr>
              <a:t>test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8173" y="4164052"/>
            <a:ext cx="1803945" cy="392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good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[]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8173" y="4649827"/>
            <a:ext cx="3822501" cy="392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000ff"/>
                </a:solidFill>
                <a:latin typeface="DejaVu Sans Mono"/>
                <a:cs typeface="DejaVu Sans Mono"/>
              </a:rPr>
              <a:t>for</a:t>
            </a:r>
            <a:r>
              <a:rPr dirty="0" sz="2400" spc="844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m,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n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 b="1">
                <a:solidFill>
                  <a:srgbClr val="0000ff"/>
                </a:solidFill>
                <a:latin typeface="DejaVu Sans Mono"/>
                <a:cs typeface="DejaVu Sans Mono"/>
              </a:rPr>
              <a:t>in</a:t>
            </a:r>
            <a:r>
              <a:rPr dirty="0" sz="2400" spc="844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matches: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22193" y="5135602"/>
            <a:ext cx="6391572" cy="8786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000ff"/>
                </a:solidFill>
                <a:latin typeface="DejaVu Sans Mono"/>
                <a:cs typeface="DejaVu Sans Mono"/>
              </a:rPr>
              <a:t>if</a:t>
            </a:r>
            <a:r>
              <a:rPr dirty="0" sz="2400" spc="844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m.distance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&lt;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008000"/>
                </a:solidFill>
                <a:latin typeface="DejaVu Sans Mono"/>
                <a:cs typeface="DejaVu Sans Mono"/>
              </a:rPr>
              <a:t>0.75</a:t>
            </a:r>
            <a:r>
              <a:rPr dirty="0" sz="2400">
                <a:solidFill>
                  <a:srgbClr val="008000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*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n.distance:</a:t>
            </a:r>
          </a:p>
          <a:p>
            <a:pPr marL="734020" marR="0">
              <a:lnSpc>
                <a:spcPts val="2793"/>
              </a:lnSpc>
              <a:spcBef>
                <a:spcPts val="1031"/>
              </a:spcBef>
              <a:spcAft>
                <a:spcPts val="0"/>
              </a:spcAft>
            </a:pP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good.append([m])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76743"/>
            <a:ext cx="8565396" cy="688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25" b="1">
                <a:solidFill>
                  <a:srgbClr val="1a73e8"/>
                </a:solidFill>
                <a:latin typeface="DejaVu Sans"/>
                <a:cs typeface="DejaVu Sans"/>
              </a:rPr>
              <a:t>Feature</a:t>
            </a:r>
            <a:r>
              <a:rPr dirty="0" sz="4400" spc="25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Matching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6774" y="3011360"/>
            <a:ext cx="4453299" cy="370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#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 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create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 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BFMatcher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 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object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774" y="3497135"/>
            <a:ext cx="3593119" cy="370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bf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cv2.BFMatcher()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6774" y="4478210"/>
            <a:ext cx="9442343" cy="370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#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 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cv2.drawMatchesKnn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 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expects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 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list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 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of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 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lists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 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as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 </a:t>
            </a:r>
            <a:r>
              <a:rPr dirty="0" sz="2250">
                <a:solidFill>
                  <a:srgbClr val="808080"/>
                </a:solidFill>
                <a:latin typeface="RCIHEE+DejaVu Sans Mono Oblique"/>
                <a:cs typeface="RCIHEE+DejaVu Sans Mono Oblique"/>
              </a:rPr>
              <a:t>matches.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6774" y="4963985"/>
            <a:ext cx="10990760" cy="370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img3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cv2.drawMatchesKnn(img1,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kp1,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img2,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kp2,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good,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50" b="1">
                <a:solidFill>
                  <a:srgbClr val="0000ff"/>
                </a:solidFill>
                <a:latin typeface="DejaVu Sans Mono"/>
                <a:cs typeface="DejaVu Sans Mono"/>
              </a:rPr>
              <a:t>None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,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250">
                <a:solidFill>
                  <a:srgbClr val="202124"/>
                </a:solidFill>
                <a:latin typeface="DejaVu Sans Mono"/>
                <a:cs typeface="DejaVu Sans Mono"/>
              </a:rPr>
              <a:t>fla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386243"/>
            <a:ext cx="9664796" cy="13552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Homography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Estimation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using</a:t>
            </a:r>
          </a:p>
          <a:p>
            <a:pPr marL="0" marR="0">
              <a:lnSpc>
                <a:spcPts val="5121"/>
              </a:lnSpc>
              <a:spcBef>
                <a:spcPts val="178"/>
              </a:spcBef>
              <a:spcAft>
                <a:spcPts val="0"/>
              </a:spcAft>
            </a:pP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OpenCV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499" y="2060728"/>
            <a:ext cx="10383166" cy="94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Calculate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the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perspective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transformation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matrix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between</a:t>
            </a:r>
          </a:p>
          <a:p>
            <a:pPr marL="0" marR="0">
              <a:lnSpc>
                <a:spcPts val="3259"/>
              </a:lnSpc>
              <a:spcBef>
                <a:spcPts val="64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corresponding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point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sets: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4399" y="3488977"/>
            <a:ext cx="1987450" cy="392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0000ff"/>
                </a:solidFill>
                <a:latin typeface="DejaVu Sans Mono"/>
                <a:cs typeface="DejaVu Sans Mono"/>
              </a:rPr>
              <a:t>import</a:t>
            </a:r>
            <a:r>
              <a:rPr dirty="0" sz="2400">
                <a:solidFill>
                  <a:srgbClr val="0000ff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cv2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399" y="4374802"/>
            <a:ext cx="10979198" cy="12787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#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Estimate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the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homography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matrix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between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two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sets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of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808080"/>
                </a:solidFill>
                <a:latin typeface="DejaVu Sans Mono"/>
                <a:cs typeface="DejaVu Sans Mono"/>
              </a:rPr>
              <a:t>points</a:t>
            </a:r>
          </a:p>
          <a:p>
            <a:pPr marL="0" marR="0">
              <a:lnSpc>
                <a:spcPts val="2793"/>
              </a:lnSpc>
              <a:spcBef>
                <a:spcPts val="731"/>
              </a:spcBef>
              <a:spcAft>
                <a:spcPts val="0"/>
              </a:spcAft>
            </a:pP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H,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mask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cv2.findHomography(</a:t>
            </a:r>
          </a:p>
          <a:p>
            <a:pPr marL="734020" marR="0">
              <a:lnSpc>
                <a:spcPts val="2793"/>
              </a:lnSpc>
              <a:spcBef>
                <a:spcPts val="656"/>
              </a:spcBef>
              <a:spcAft>
                <a:spcPts val="0"/>
              </a:spcAft>
            </a:pP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srcPoints=src_pts,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48420" y="5698777"/>
            <a:ext cx="3455491" cy="392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dstPoints=dst_pts,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48420" y="6146452"/>
            <a:ext cx="3455491" cy="392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method=cv2.</a:t>
            </a:r>
            <a:r>
              <a:rPr dirty="0" sz="2400">
                <a:solidFill>
                  <a:srgbClr val="1a73e8"/>
                </a:solidFill>
                <a:latin typeface="DejaVu Sans Mono"/>
                <a:cs typeface="DejaVu Sans Mono"/>
              </a:rPr>
              <a:t>RANSAC</a:t>
            </a:r>
            <a:r>
              <a:rPr dirty="0" sz="2400">
                <a:solidFill>
                  <a:srgbClr val="202124"/>
                </a:solidFill>
                <a:latin typeface="DejaVu Sans Mono"/>
                <a:cs typeface="DejaVu Sans Mono"/>
              </a:rPr>
              <a:t>,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76743"/>
            <a:ext cx="9761913" cy="13552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17" b="1">
                <a:solidFill>
                  <a:srgbClr val="1a73e8"/>
                </a:solidFill>
                <a:latin typeface="DejaVu Sans"/>
                <a:cs typeface="DejaVu Sans"/>
              </a:rPr>
              <a:t>Panorama</a:t>
            </a:r>
            <a:r>
              <a:rPr dirty="0" sz="4400" spc="17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Stitching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-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Blending</a:t>
            </a:r>
          </a:p>
          <a:p>
            <a:pPr marL="0" marR="0">
              <a:lnSpc>
                <a:spcPts val="5121"/>
              </a:lnSpc>
              <a:spcBef>
                <a:spcPts val="178"/>
              </a:spcBef>
              <a:spcAft>
                <a:spcPts val="0"/>
              </a:spcAft>
            </a:pPr>
            <a:r>
              <a:rPr dirty="0" sz="4400" b="1">
                <a:solidFill>
                  <a:srgbClr val="1a73e8"/>
                </a:solidFill>
                <a:latin typeface="DejaVu Sans"/>
                <a:cs typeface="DejaVu Sans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499" y="2489353"/>
            <a:ext cx="9721022" cy="9092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•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Applying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the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homography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matrix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to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warp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and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blend</a:t>
            </a:r>
          </a:p>
          <a:p>
            <a:pPr marL="0" marR="0">
              <a:lnSpc>
                <a:spcPts val="3259"/>
              </a:lnSpc>
              <a:spcBef>
                <a:spcPts val="340"/>
              </a:spcBef>
              <a:spcAft>
                <a:spcPts val="0"/>
              </a:spcAft>
            </a:pPr>
            <a:r>
              <a:rPr dirty="0" sz="2800">
                <a:solidFill>
                  <a:srgbClr val="202124"/>
                </a:solidFill>
                <a:latin typeface="DejaVu Sans"/>
                <a:cs typeface="DejaVu Sans"/>
              </a:rPr>
              <a:t>images: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774" y="3926397"/>
            <a:ext cx="1127391" cy="226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250" spc="15">
                <a:solidFill>
                  <a:srgbClr val="0000ff"/>
                </a:solidFill>
                <a:latin typeface="DejaVu Sans Mono"/>
                <a:cs typeface="DejaVu Sans Mono"/>
              </a:rPr>
              <a:t>import</a:t>
            </a:r>
            <a:r>
              <a:rPr dirty="0" sz="1250" spc="15">
                <a:solidFill>
                  <a:srgbClr val="0000ff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cv2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6774" y="4154997"/>
            <a:ext cx="1907544" cy="226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250" spc="15">
                <a:solidFill>
                  <a:srgbClr val="0000ff"/>
                </a:solidFill>
                <a:latin typeface="DejaVu Sans Mono"/>
                <a:cs typeface="DejaVu Sans Mono"/>
              </a:rPr>
              <a:t>import</a:t>
            </a:r>
            <a:r>
              <a:rPr dirty="0" sz="1250" spc="15">
                <a:solidFill>
                  <a:srgbClr val="0000ff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numpy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0000ff"/>
                </a:solidFill>
                <a:latin typeface="DejaVu Sans Mono"/>
                <a:cs typeface="DejaVu Sans Mono"/>
              </a:rPr>
              <a:t>as</a:t>
            </a:r>
            <a:r>
              <a:rPr dirty="0" sz="1250" spc="15">
                <a:solidFill>
                  <a:srgbClr val="0000ff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np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6774" y="4602672"/>
            <a:ext cx="6294084" cy="683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250">
                <a:solidFill>
                  <a:srgbClr val="808080"/>
                </a:solidFill>
                <a:latin typeface="DejaVu Sans Mono"/>
                <a:cs typeface="DejaVu Sans Mono"/>
              </a:rPr>
              <a:t>#</a:t>
            </a:r>
            <a:r>
              <a:rPr dirty="0" sz="1250" spc="3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Assuming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img1,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img2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are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loaded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and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>
                <a:solidFill>
                  <a:srgbClr val="808080"/>
                </a:solidFill>
                <a:latin typeface="DejaVu Sans Mono"/>
                <a:cs typeface="DejaVu Sans Mono"/>
              </a:rPr>
              <a:t>H</a:t>
            </a:r>
            <a:r>
              <a:rPr dirty="0" sz="1250" spc="3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is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the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homography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matrix</a:t>
            </a:r>
          </a:p>
          <a:p>
            <a:pPr marL="0" marR="0">
              <a:lnSpc>
                <a:spcPts val="1484"/>
              </a:lnSpc>
              <a:spcBef>
                <a:spcPts val="315"/>
              </a:spcBef>
              <a:spcAft>
                <a:spcPts val="0"/>
              </a:spcAft>
            </a:pPr>
            <a:r>
              <a:rPr dirty="0" sz="1250">
                <a:solidFill>
                  <a:srgbClr val="808080"/>
                </a:solidFill>
                <a:latin typeface="DejaVu Sans Mono"/>
                <a:cs typeface="DejaVu Sans Mono"/>
              </a:rPr>
              <a:t>#</a:t>
            </a:r>
            <a:r>
              <a:rPr dirty="0" sz="1250" spc="3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Get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dimensions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of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the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destination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image</a:t>
            </a:r>
          </a:p>
          <a:p>
            <a:pPr marL="0" marR="0">
              <a:lnSpc>
                <a:spcPts val="1484"/>
              </a:lnSpc>
              <a:spcBef>
                <a:spcPts val="315"/>
              </a:spcBef>
              <a:spcAft>
                <a:spcPts val="0"/>
              </a:spcAft>
            </a:pP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height,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width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1250" spc="3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img1.shape[:</a:t>
            </a:r>
            <a:r>
              <a:rPr dirty="0" sz="1250" spc="15">
                <a:solidFill>
                  <a:srgbClr val="098658"/>
                </a:solidFill>
                <a:latin typeface="DejaVu Sans Mono"/>
                <a:cs typeface="DejaVu Sans Mono"/>
              </a:rPr>
              <a:t>2</a:t>
            </a:r>
            <a:r>
              <a:rPr dirty="0" sz="1250">
                <a:solidFill>
                  <a:srgbClr val="202124"/>
                </a:solidFill>
                <a:latin typeface="DejaVu Sans Mono"/>
                <a:cs typeface="DejaVu Sans Mono"/>
              </a:rPr>
              <a:t>]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6774" y="5507547"/>
            <a:ext cx="5904136" cy="226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250">
                <a:solidFill>
                  <a:srgbClr val="808080"/>
                </a:solidFill>
                <a:latin typeface="DejaVu Sans Mono"/>
                <a:cs typeface="DejaVu Sans Mono"/>
              </a:rPr>
              <a:t>#</a:t>
            </a:r>
            <a:r>
              <a:rPr dirty="0" sz="1250" spc="3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Warp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img2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to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img1's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perspective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using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cv2.warpPerspective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6774" y="5736147"/>
            <a:ext cx="7366596" cy="226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warped_img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1250" spc="3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cv2.warpPerspective(img2,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H,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(width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>
                <a:solidFill>
                  <a:srgbClr val="202124"/>
                </a:solidFill>
                <a:latin typeface="DejaVu Sans Mono"/>
                <a:cs typeface="DejaVu Sans Mono"/>
              </a:rPr>
              <a:t>+</a:t>
            </a:r>
            <a:r>
              <a:rPr dirty="0" sz="1250" spc="3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img2.shape[</a:t>
            </a:r>
            <a:r>
              <a:rPr dirty="0" sz="1250" spc="15">
                <a:solidFill>
                  <a:srgbClr val="098658"/>
                </a:solidFill>
                <a:latin typeface="DejaVu Sans Mono"/>
                <a:cs typeface="DejaVu Sans Mono"/>
              </a:rPr>
              <a:t>1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],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height))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6774" y="6193347"/>
            <a:ext cx="5319214" cy="4551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250">
                <a:solidFill>
                  <a:srgbClr val="808080"/>
                </a:solidFill>
                <a:latin typeface="DejaVu Sans Mono"/>
                <a:cs typeface="DejaVu Sans Mono"/>
              </a:rPr>
              <a:t>#</a:t>
            </a:r>
            <a:r>
              <a:rPr dirty="0" sz="1250" spc="30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Blend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the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images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(simple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overlay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for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808080"/>
                </a:solidFill>
                <a:latin typeface="DejaVu Sans Mono"/>
                <a:cs typeface="DejaVu Sans Mono"/>
              </a:rPr>
              <a:t>demonstration)</a:t>
            </a:r>
          </a:p>
          <a:p>
            <a:pPr marL="0" marR="0">
              <a:lnSpc>
                <a:spcPts val="1484"/>
              </a:lnSpc>
              <a:spcBef>
                <a:spcPts val="315"/>
              </a:spcBef>
              <a:spcAft>
                <a:spcPts val="0"/>
              </a:spcAft>
            </a:pP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warped_img[</a:t>
            </a:r>
            <a:r>
              <a:rPr dirty="0" sz="1250" spc="15">
                <a:solidFill>
                  <a:srgbClr val="098658"/>
                </a:solidFill>
                <a:latin typeface="DejaVu Sans Mono"/>
                <a:cs typeface="DejaVu Sans Mono"/>
              </a:rPr>
              <a:t>0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:height,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098658"/>
                </a:solidFill>
                <a:latin typeface="DejaVu Sans Mono"/>
                <a:cs typeface="DejaVu Sans Mono"/>
              </a:rPr>
              <a:t>0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:width]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>
                <a:solidFill>
                  <a:srgbClr val="202124"/>
                </a:solidFill>
                <a:latin typeface="DejaVu Sans Mono"/>
                <a:cs typeface="DejaVu Sans Mono"/>
              </a:rPr>
              <a:t>=</a:t>
            </a:r>
            <a:r>
              <a:rPr dirty="0" sz="1250" spc="30">
                <a:solidFill>
                  <a:srgbClr val="202124"/>
                </a:solidFill>
                <a:latin typeface="DejaVu Sans Mono"/>
                <a:cs typeface="DejaVu Sans Mono"/>
              </a:rPr>
              <a:t> </a:t>
            </a:r>
            <a:r>
              <a:rPr dirty="0" sz="1250" spc="15">
                <a:solidFill>
                  <a:srgbClr val="202124"/>
                </a:solidFill>
                <a:latin typeface="DejaVu Sans Mono"/>
                <a:cs typeface="DejaVu Sans Mono"/>
              </a:rPr>
              <a:t>img1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53136"/>
            <a:ext cx="10007384" cy="13562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354"/>
              </a:lnSpc>
              <a:spcBef>
                <a:spcPts val="0"/>
              </a:spcBef>
              <a:spcAft>
                <a:spcPts val="0"/>
              </a:spcAft>
            </a:pPr>
            <a:r>
              <a:rPr dirty="0" sz="4600" b="1">
                <a:solidFill>
                  <a:srgbClr val="202124"/>
                </a:solidFill>
                <a:latin typeface="DejaVu Sans"/>
                <a:cs typeface="DejaVu Sans"/>
              </a:rPr>
              <a:t>Common</a:t>
            </a:r>
            <a:r>
              <a:rPr dirty="0" sz="46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600" spc="-27" b="1">
                <a:solidFill>
                  <a:srgbClr val="202124"/>
                </a:solidFill>
                <a:latin typeface="DejaVu Sans"/>
                <a:cs typeface="DejaVu Sans"/>
              </a:rPr>
              <a:t>Feature</a:t>
            </a:r>
            <a:r>
              <a:rPr dirty="0" sz="4600" spc="25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600" b="1">
                <a:solidFill>
                  <a:srgbClr val="202124"/>
                </a:solidFill>
                <a:latin typeface="DejaVu Sans"/>
                <a:cs typeface="DejaVu Sans"/>
              </a:rPr>
              <a:t>Detectors</a:t>
            </a:r>
            <a:r>
              <a:rPr dirty="0" sz="46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600" b="1">
                <a:solidFill>
                  <a:srgbClr val="202124"/>
                </a:solidFill>
                <a:latin typeface="DejaVu Sans"/>
                <a:cs typeface="DejaVu Sans"/>
              </a:rPr>
              <a:t>in</a:t>
            </a:r>
          </a:p>
          <a:p>
            <a:pPr marL="0" marR="0">
              <a:lnSpc>
                <a:spcPts val="5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4600" b="1">
                <a:solidFill>
                  <a:srgbClr val="202124"/>
                </a:solidFill>
                <a:latin typeface="DejaVu Sans"/>
                <a:cs typeface="DejaVu Sans"/>
              </a:rPr>
              <a:t>OpenCV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9624" y="2790598"/>
            <a:ext cx="1338242" cy="5998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dirty="0" sz="3800" b="1">
                <a:solidFill>
                  <a:srgbClr val="1a73e8"/>
                </a:solidFill>
                <a:latin typeface="DejaVu Sans"/>
                <a:cs typeface="DejaVu Sans"/>
              </a:rPr>
              <a:t>SIFT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22750" y="2790598"/>
            <a:ext cx="1301958" cy="5998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dirty="0" sz="3800" b="1">
                <a:solidFill>
                  <a:srgbClr val="1a73e8"/>
                </a:solidFill>
                <a:latin typeface="DejaVu Sans"/>
                <a:cs typeface="DejaVu Sans"/>
              </a:rPr>
              <a:t>ORB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83487" y="2790598"/>
            <a:ext cx="1952722" cy="5998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dirty="0" sz="3800" b="1">
                <a:solidFill>
                  <a:srgbClr val="1a73e8"/>
                </a:solidFill>
                <a:latin typeface="DejaVu Sans"/>
                <a:cs typeface="DejaVu Sans"/>
              </a:rPr>
              <a:t>AKAZE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9624" y="3440940"/>
            <a:ext cx="3099924" cy="6384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5f6368"/>
                </a:solidFill>
                <a:latin typeface="DejaVu Sans"/>
                <a:cs typeface="DejaVu Sans"/>
              </a:rPr>
              <a:t>Scale-Invariant</a:t>
            </a:r>
            <a:r>
              <a:rPr dirty="0" sz="20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000" spc="-25">
                <a:solidFill>
                  <a:srgbClr val="5f6368"/>
                </a:solidFill>
                <a:latin typeface="DejaVu Sans"/>
                <a:cs typeface="DejaVu Sans"/>
              </a:rPr>
              <a:t>Feature</a:t>
            </a:r>
          </a:p>
          <a:p>
            <a:pPr marL="0" marR="0">
              <a:lnSpc>
                <a:spcPts val="2327"/>
              </a:lnSpc>
              <a:spcBef>
                <a:spcPts val="72"/>
              </a:spcBef>
              <a:spcAft>
                <a:spcPts val="0"/>
              </a:spcAft>
            </a:pPr>
            <a:r>
              <a:rPr dirty="0" sz="2000" spc="-37">
                <a:solidFill>
                  <a:srgbClr val="5f6368"/>
                </a:solidFill>
                <a:latin typeface="DejaVu Sans"/>
                <a:cs typeface="DejaVu Sans"/>
              </a:rPr>
              <a:t>Transform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22750" y="3440940"/>
            <a:ext cx="2513026" cy="6384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5f6368"/>
                </a:solidFill>
                <a:latin typeface="DejaVu Sans"/>
                <a:cs typeface="DejaVu Sans"/>
              </a:rPr>
              <a:t>Oriented</a:t>
            </a:r>
            <a:r>
              <a:rPr dirty="0" sz="20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000" spc="-46">
                <a:solidFill>
                  <a:srgbClr val="5f6368"/>
                </a:solidFill>
                <a:latin typeface="DejaVu Sans"/>
                <a:cs typeface="DejaVu Sans"/>
              </a:rPr>
              <a:t>FAST</a:t>
            </a:r>
            <a:r>
              <a:rPr dirty="0" sz="2000" spc="46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5f6368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2327"/>
              </a:lnSpc>
              <a:spcBef>
                <a:spcPts val="72"/>
              </a:spcBef>
              <a:spcAft>
                <a:spcPts val="0"/>
              </a:spcAft>
            </a:pPr>
            <a:r>
              <a:rPr dirty="0" sz="2000" spc="-15">
                <a:solidFill>
                  <a:srgbClr val="5f6368"/>
                </a:solidFill>
                <a:latin typeface="DejaVu Sans"/>
                <a:cs typeface="DejaVu Sans"/>
              </a:rPr>
              <a:t>Rotated</a:t>
            </a:r>
            <a:r>
              <a:rPr dirty="0" sz="2000" spc="15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5f6368"/>
                </a:solidFill>
                <a:latin typeface="DejaVu Sans"/>
                <a:cs typeface="DejaVu Sans"/>
              </a:rPr>
              <a:t>BRIEF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83487" y="3440940"/>
            <a:ext cx="2431628" cy="3336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5f6368"/>
                </a:solidFill>
                <a:latin typeface="DejaVu Sans"/>
                <a:cs typeface="DejaVu Sans"/>
              </a:rPr>
              <a:t>Accelerated-KAZE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16862" y="4284609"/>
            <a:ext cx="1113309" cy="422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 b="1">
                <a:solidFill>
                  <a:srgbClr val="202124"/>
                </a:solidFill>
                <a:latin typeface="DejaVu Sans"/>
                <a:cs typeface="DejaVu Sans"/>
              </a:rPr>
              <a:t>Good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83487" y="4321708"/>
            <a:ext cx="368386" cy="3042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1a73e8"/>
                </a:solidFill>
                <a:latin typeface="DejaVu Sans"/>
                <a:cs typeface="DejaVu Sans"/>
              </a:rPr>
              <a:t>■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42999" y="4370334"/>
            <a:ext cx="1013205" cy="422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 b="1">
                <a:solidFill>
                  <a:srgbClr val="202124"/>
                </a:solidFill>
                <a:latin typeface="DejaVu Sans"/>
                <a:cs typeface="DejaVu Sans"/>
              </a:rPr>
              <a:t>High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956125" y="4370334"/>
            <a:ext cx="1935265" cy="422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 b="1">
                <a:solidFill>
                  <a:srgbClr val="202124"/>
                </a:solidFill>
                <a:latin typeface="DejaVu Sans"/>
                <a:cs typeface="DejaVu Sans"/>
              </a:rPr>
              <a:t>Moderate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9624" y="4407433"/>
            <a:ext cx="368386" cy="3042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1a73e8"/>
                </a:solidFill>
                <a:latin typeface="DejaVu Sans"/>
                <a:cs typeface="DejaVu Sans"/>
              </a:rPr>
              <a:t>■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622750" y="4407433"/>
            <a:ext cx="368386" cy="3042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1a73e8"/>
                </a:solidFill>
                <a:latin typeface="DejaVu Sans"/>
                <a:cs typeface="DejaVu Sans"/>
              </a:rPr>
              <a:t>■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16862" y="4741809"/>
            <a:ext cx="2268579" cy="18130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 b="1">
                <a:solidFill>
                  <a:srgbClr val="202124"/>
                </a:solidFill>
                <a:latin typeface="DejaVu Sans"/>
                <a:cs typeface="DejaVu Sans"/>
              </a:rPr>
              <a:t>Accuracy:</a:t>
            </a:r>
          </a:p>
          <a:p>
            <a:pPr marL="0" marR="0">
              <a:lnSpc>
                <a:spcPts val="3025"/>
              </a:lnSpc>
              <a:spcBef>
                <a:spcPts val="699"/>
              </a:spcBef>
              <a:spcAft>
                <a:spcPts val="0"/>
              </a:spcAft>
            </a:pP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Better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than</a:t>
            </a:r>
          </a:p>
          <a:p>
            <a:pPr marL="0" marR="0">
              <a:lnSpc>
                <a:spcPts val="3025"/>
              </a:lnSpc>
              <a:spcBef>
                <a:spcPts val="574"/>
              </a:spcBef>
              <a:spcAft>
                <a:spcPts val="0"/>
              </a:spcAft>
            </a:pP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ORB,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slightly</a:t>
            </a:r>
          </a:p>
          <a:p>
            <a:pPr marL="0" marR="0">
              <a:lnSpc>
                <a:spcPts val="3025"/>
              </a:lnSpc>
              <a:spcBef>
                <a:spcPts val="699"/>
              </a:spcBef>
              <a:spcAft>
                <a:spcPts val="0"/>
              </a:spcAft>
            </a:pP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below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600" spc="-70">
                <a:solidFill>
                  <a:srgbClr val="202124"/>
                </a:solidFill>
                <a:latin typeface="DejaVu Sans"/>
                <a:cs typeface="DejaVu Sans"/>
              </a:rPr>
              <a:t>SIFT.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42999" y="4827534"/>
            <a:ext cx="2219089" cy="13463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 b="1">
                <a:solidFill>
                  <a:srgbClr val="202124"/>
                </a:solidFill>
                <a:latin typeface="DejaVu Sans"/>
                <a:cs typeface="DejaVu Sans"/>
              </a:rPr>
              <a:t>Accuracy:</a:t>
            </a:r>
          </a:p>
          <a:p>
            <a:pPr marL="0" marR="0">
              <a:lnSpc>
                <a:spcPts val="3025"/>
              </a:lnSpc>
              <a:spcBef>
                <a:spcPts val="699"/>
              </a:spcBef>
              <a:spcAft>
                <a:spcPts val="0"/>
              </a:spcAft>
            </a:pP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Excellent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3025"/>
              </a:lnSpc>
              <a:spcBef>
                <a:spcPts val="574"/>
              </a:spcBef>
              <a:spcAft>
                <a:spcPts val="0"/>
              </a:spcAft>
            </a:pP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complex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956125" y="4827534"/>
            <a:ext cx="2096277" cy="18130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 b="1">
                <a:solidFill>
                  <a:srgbClr val="202124"/>
                </a:solidFill>
                <a:latin typeface="DejaVu Sans"/>
                <a:cs typeface="DejaVu Sans"/>
              </a:rPr>
              <a:t>Accuracy:</a:t>
            </a:r>
          </a:p>
          <a:p>
            <a:pPr marL="0" marR="0">
              <a:lnSpc>
                <a:spcPts val="3025"/>
              </a:lnSpc>
              <a:spcBef>
                <a:spcPts val="699"/>
              </a:spcBef>
              <a:spcAft>
                <a:spcPts val="0"/>
              </a:spcAft>
            </a:pP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Good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3025"/>
              </a:lnSpc>
              <a:spcBef>
                <a:spcPts val="574"/>
              </a:spcBef>
              <a:spcAft>
                <a:spcPts val="0"/>
              </a:spcAft>
            </a:pP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general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use</a:t>
            </a:r>
          </a:p>
          <a:p>
            <a:pPr marL="0" marR="0">
              <a:lnSpc>
                <a:spcPts val="3025"/>
              </a:lnSpc>
              <a:spcBef>
                <a:spcPts val="699"/>
              </a:spcBef>
              <a:spcAft>
                <a:spcPts val="0"/>
              </a:spcAft>
            </a:pP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cases.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42999" y="6218184"/>
            <a:ext cx="2783546" cy="422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matching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2600">
                <a:solidFill>
                  <a:srgbClr val="202124"/>
                </a:solidFill>
                <a:latin typeface="DejaVu Sans"/>
                <a:cs typeface="DejaVu Sans"/>
              </a:rPr>
              <a:t>tasks.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576743"/>
            <a:ext cx="8761000" cy="13552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2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b="1">
                <a:solidFill>
                  <a:srgbClr val="202124"/>
                </a:solidFill>
                <a:latin typeface="DejaVu Sans"/>
                <a:cs typeface="DejaVu Sans"/>
              </a:rPr>
              <a:t>Summary:</a:t>
            </a:r>
            <a:r>
              <a:rPr dirty="0" sz="44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400" b="1">
                <a:solidFill>
                  <a:srgbClr val="202124"/>
                </a:solidFill>
                <a:latin typeface="DejaVu Sans"/>
                <a:cs typeface="DejaVu Sans"/>
              </a:rPr>
              <a:t>Computer</a:t>
            </a:r>
            <a:r>
              <a:rPr dirty="0" sz="44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4400" spc="-15" b="1">
                <a:solidFill>
                  <a:srgbClr val="202124"/>
                </a:solidFill>
                <a:latin typeface="DejaVu Sans"/>
                <a:cs typeface="DejaVu Sans"/>
              </a:rPr>
              <a:t>Vision</a:t>
            </a:r>
          </a:p>
          <a:p>
            <a:pPr marL="0" marR="0">
              <a:lnSpc>
                <a:spcPts val="5121"/>
              </a:lnSpc>
              <a:spcBef>
                <a:spcPts val="178"/>
              </a:spcBef>
              <a:spcAft>
                <a:spcPts val="0"/>
              </a:spcAft>
            </a:pPr>
            <a:r>
              <a:rPr dirty="0" sz="4400" spc="-23" b="1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5349" y="2489854"/>
            <a:ext cx="5522216" cy="511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Importance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of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18" b="1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5349" y="3108478"/>
            <a:ext cx="10434207" cy="9187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Enable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 spc="-12">
                <a:solidFill>
                  <a:srgbClr val="5f6368"/>
                </a:solidFill>
                <a:latin typeface="DejaVu Sans"/>
                <a:cs typeface="DejaVu Sans"/>
              </a:rPr>
              <a:t>robust</a:t>
            </a:r>
            <a:r>
              <a:rPr dirty="0" sz="2800" spc="11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object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recognition,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tracking,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and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panorama</a:t>
            </a:r>
          </a:p>
          <a:p>
            <a:pPr marL="0" marR="0">
              <a:lnSpc>
                <a:spcPts val="3259"/>
              </a:lnSpc>
              <a:spcBef>
                <a:spcPts val="365"/>
              </a:spcBef>
              <a:spcAft>
                <a:spcPts val="0"/>
              </a:spcAft>
            </a:pP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stitching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 spc="-12">
                <a:solidFill>
                  <a:srgbClr val="5f6368"/>
                </a:solidFill>
                <a:latin typeface="DejaVu Sans"/>
                <a:cs typeface="DejaVu Sans"/>
              </a:rPr>
              <a:t>across</a:t>
            </a:r>
            <a:r>
              <a:rPr dirty="0" sz="2800" spc="11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varying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scales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and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illumination.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5349" y="4394854"/>
            <a:ext cx="4205305" cy="511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spc="-75" b="1">
                <a:solidFill>
                  <a:srgbClr val="202124"/>
                </a:solidFill>
                <a:latin typeface="DejaVu Sans"/>
                <a:cs typeface="DejaVu Sans"/>
              </a:rPr>
              <a:t>Types</a:t>
            </a:r>
            <a:r>
              <a:rPr dirty="0" sz="3200" spc="75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of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18" b="1">
                <a:solidFill>
                  <a:srgbClr val="202124"/>
                </a:solidFill>
                <a:latin typeface="DejaVu Sans"/>
                <a:cs typeface="DejaVu Sans"/>
              </a:rPr>
              <a:t>Features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5349" y="5013478"/>
            <a:ext cx="9665813" cy="9187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Categorized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primarily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into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Edges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(gradients),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Corners</a:t>
            </a:r>
          </a:p>
          <a:p>
            <a:pPr marL="0" marR="0">
              <a:lnSpc>
                <a:spcPts val="3259"/>
              </a:lnSpc>
              <a:spcBef>
                <a:spcPts val="365"/>
              </a:spcBef>
              <a:spcAft>
                <a:spcPts val="0"/>
              </a:spcAft>
            </a:pP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(Harris,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 spc="-43">
                <a:solidFill>
                  <a:srgbClr val="5f6368"/>
                </a:solidFill>
                <a:latin typeface="DejaVu Sans"/>
                <a:cs typeface="DejaVu Sans"/>
              </a:rPr>
              <a:t>FAST),</a:t>
            </a:r>
            <a:r>
              <a:rPr dirty="0" sz="2800" spc="43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and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Blobs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 spc="-10">
                <a:solidFill>
                  <a:srgbClr val="5f6368"/>
                </a:solidFill>
                <a:latin typeface="DejaVu Sans"/>
                <a:cs typeface="DejaVu Sans"/>
              </a:rPr>
              <a:t>(SIFT,</a:t>
            </a:r>
            <a:r>
              <a:rPr dirty="0" sz="2800" spc="1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2800">
                <a:solidFill>
                  <a:srgbClr val="5f6368"/>
                </a:solidFill>
                <a:latin typeface="DejaVu Sans"/>
                <a:cs typeface="DejaVu Sans"/>
              </a:rPr>
              <a:t>SURF).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5349" y="6299854"/>
            <a:ext cx="9141626" cy="511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2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OpenCV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spc="-85" b="1">
                <a:solidFill>
                  <a:srgbClr val="202124"/>
                </a:solidFill>
                <a:latin typeface="DejaVu Sans"/>
                <a:cs typeface="DejaVu Sans"/>
              </a:rPr>
              <a:t>Tools</a:t>
            </a:r>
            <a:r>
              <a:rPr dirty="0" sz="3200" spc="85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for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Detection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&amp;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3200" b="1">
                <a:solidFill>
                  <a:srgbClr val="202124"/>
                </a:solidFill>
                <a:latin typeface="DejaVu Sans"/>
                <a:cs typeface="DejaVu Sans"/>
              </a:rPr>
              <a:t>Stitching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4064" y="2304008"/>
            <a:ext cx="11116269" cy="11025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381"/>
              </a:lnSpc>
              <a:spcBef>
                <a:spcPts val="0"/>
              </a:spcBef>
              <a:spcAft>
                <a:spcPts val="0"/>
              </a:spcAft>
            </a:pPr>
            <a:r>
              <a:rPr dirty="0" sz="7200" b="1">
                <a:solidFill>
                  <a:srgbClr val="202124"/>
                </a:solidFill>
                <a:latin typeface="DejaVu Sans"/>
                <a:cs typeface="DejaVu Sans"/>
              </a:rPr>
              <a:t>Questions</a:t>
            </a:r>
            <a:r>
              <a:rPr dirty="0" sz="7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7200" b="1">
                <a:solidFill>
                  <a:srgbClr val="202124"/>
                </a:solidFill>
                <a:latin typeface="DejaVu Sans"/>
                <a:cs typeface="DejaVu Sans"/>
              </a:rPr>
              <a:t>&amp;</a:t>
            </a:r>
            <a:r>
              <a:rPr dirty="0" sz="7200" b="1">
                <a:solidFill>
                  <a:srgbClr val="202124"/>
                </a:solidFill>
                <a:latin typeface="DejaVu Sans"/>
                <a:cs typeface="DejaVu Sans"/>
              </a:rPr>
              <a:t> </a:t>
            </a:r>
            <a:r>
              <a:rPr dirty="0" sz="7200" b="1">
                <a:solidFill>
                  <a:srgbClr val="202124"/>
                </a:solidFill>
                <a:latin typeface="DejaVu Sans"/>
                <a:cs typeface="DejaVu Sans"/>
              </a:rPr>
              <a:t>Answers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8923" y="4075472"/>
            <a:ext cx="5746290" cy="4816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492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>
                <a:solidFill>
                  <a:srgbClr val="5f6368"/>
                </a:solidFill>
                <a:latin typeface="DejaVu Sans"/>
                <a:cs typeface="DejaVu Sans"/>
              </a:rPr>
              <a:t>Thank</a:t>
            </a:r>
            <a:r>
              <a:rPr dirty="0" sz="30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5f6368"/>
                </a:solidFill>
                <a:latin typeface="DejaVu Sans"/>
                <a:cs typeface="DejaVu Sans"/>
              </a:rPr>
              <a:t>you</a:t>
            </a:r>
            <a:r>
              <a:rPr dirty="0" sz="30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5f6368"/>
                </a:solidFill>
                <a:latin typeface="DejaVu Sans"/>
                <a:cs typeface="DejaVu Sans"/>
              </a:rPr>
              <a:t>for</a:t>
            </a:r>
            <a:r>
              <a:rPr dirty="0" sz="30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5f6368"/>
                </a:solidFill>
                <a:latin typeface="DejaVu Sans"/>
                <a:cs typeface="DejaVu Sans"/>
              </a:rPr>
              <a:t>your</a:t>
            </a:r>
            <a:r>
              <a:rPr dirty="0" sz="3000">
                <a:solidFill>
                  <a:srgbClr val="5f6368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5f6368"/>
                </a:solidFill>
                <a:latin typeface="DejaVu Sans"/>
                <a:cs typeface="DejaVu Sans"/>
              </a:rPr>
              <a:t>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2026-03-11T03:02:02+00:00</dcterms:modified>
</cp:coreProperties>
</file>